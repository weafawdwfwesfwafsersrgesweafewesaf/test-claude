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61" r:id="rId4"/>
    <p:sldId id="258" r:id="rId5"/>
    <p:sldId id="262" r:id="rId6"/>
    <p:sldId id="263" r:id="rId7"/>
    <p:sldId id="259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5673-2073-C34A-A5E6-8BCE3876C21F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F5F3FAF4-4CCF-644B-B2CC-4FE4CB89BE2D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20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5673-2073-C34A-A5E6-8BCE3876C21F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FAF4-4CCF-644B-B2CC-4FE4CB89BE2D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10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5673-2073-C34A-A5E6-8BCE3876C21F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FAF4-4CCF-644B-B2CC-4FE4CB89BE2D}" type="slidenum">
              <a:rPr lang="fr-FR" smtClean="0"/>
              <a:t>‹N°›</a:t>
            </a:fld>
            <a:endParaRPr lang="fr-FR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035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5673-2073-C34A-A5E6-8BCE3876C21F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FAF4-4CCF-644B-B2CC-4FE4CB89BE2D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303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5673-2073-C34A-A5E6-8BCE3876C21F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FAF4-4CCF-644B-B2CC-4FE4CB89BE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56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5673-2073-C34A-A5E6-8BCE3876C21F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FAF4-4CCF-644B-B2CC-4FE4CB89BE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538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5673-2073-C34A-A5E6-8BCE3876C21F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FAF4-4CCF-644B-B2CC-4FE4CB89BE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22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5673-2073-C34A-A5E6-8BCE3876C21F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FAF4-4CCF-644B-B2CC-4FE4CB89BE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006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5673-2073-C34A-A5E6-8BCE3876C21F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FAF4-4CCF-644B-B2CC-4FE4CB89BE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712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5673-2073-C34A-A5E6-8BCE3876C21F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FAF4-4CCF-644B-B2CC-4FE4CB89BE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359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5673-2073-C34A-A5E6-8BCE3876C21F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FAF4-4CCF-644B-B2CC-4FE4CB89BE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8442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F365673-2073-C34A-A5E6-8BCE3876C21F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3FAF4-4CCF-644B-B2CC-4FE4CB89BE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7928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8C8121A-40AF-8D1C-D229-ACF00D20FA8D}"/>
              </a:ext>
            </a:extLst>
          </p:cNvPr>
          <p:cNvSpPr txBox="1"/>
          <p:nvPr/>
        </p:nvSpPr>
        <p:spPr>
          <a:xfrm>
            <a:off x="1500000" y="5900000"/>
            <a:ext cx="6200000" cy="5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sz="2000" dirty="0"/>
              <a:t>NOM : Robin VERCOOR – 1TEB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72B474-36E1-6757-A938-B0D680F8EDB2}"/>
              </a:ext>
            </a:extLst>
          </p:cNvPr>
          <p:cNvSpPr txBox="1"/>
          <p:nvPr/>
        </p:nvSpPr>
        <p:spPr>
          <a:xfrm>
            <a:off x="2193785" y="2238704"/>
            <a:ext cx="4756430" cy="95410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fr-FR" sz="2000" dirty="0"/>
              <a:t>TITRE DU PROJET</a:t>
            </a:r>
          </a:p>
          <a:p>
            <a:r>
              <a:rPr sz="2000"/>
              <a:t>Construction d’une maison individuelle – TARNAUD (Rochechouart)</a:t>
            </a:r>
          </a:p>
        </p:txBody>
      </p:sp>
    </p:spTree>
    <p:extLst>
      <p:ext uri="{BB962C8B-B14F-4D97-AF65-F5344CB8AC3E}">
        <p14:creationId xmlns:p14="http://schemas.microsoft.com/office/powerpoint/2010/main" val="317787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8C8121A-40AF-8D1C-D229-ACF00D20FA8D}"/>
              </a:ext>
            </a:extLst>
          </p:cNvPr>
          <p:cNvSpPr txBox="1"/>
          <p:nvPr/>
        </p:nvSpPr>
        <p:spPr>
          <a:xfrm>
            <a:off x="0" y="515007"/>
            <a:ext cx="9143999" cy="52322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DESCRIPTION GENERALE DU PROJET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A7D6969-F7FD-B1FC-DD30-89A1BED2955A}"/>
              </a:ext>
            </a:extLst>
          </p:cNvPr>
          <p:cNvSpPr txBox="1"/>
          <p:nvPr/>
        </p:nvSpPr>
        <p:spPr>
          <a:xfrm>
            <a:off x="800000" y="1500000"/>
            <a:ext cx="7600000" cy="480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fr-FR" sz="1500" dirty="0"/>
              <a:t>Surface : ≈ 365 m² habitables (RDC ≈ 166 m² + sous-sol ≈ 200 m²), hors garage (maquette), patio et terrasses (≈ 66 m²)</a:t>
            </a:r>
          </a:p>
          <a:p>
            <a:r>
              <a:rPr sz="1500"/>
              <a:t>Nombre d’étage : 2 niveaux (sous-sol semi-enterré + rez-de-chaussée), toiture-terrasse plate</a:t>
            </a:r>
          </a:p>
          <a:p>
            <a:r>
              <a:rPr sz="1500"/>
              <a:t>Nombre de pièces : ≈ 25 (RDC : séjour, cuisine, bureau, 2 chambres…, sous-sol : salle de jeu, 3 chambres, caves…)</a:t>
            </a:r>
          </a:p>
          <a:p>
            <a:r>
              <a:rPr sz="1500"/>
              <a:t>Fonction du bâtiment : habitation – maison individuelle (+ garage), 26-28 rue Eugène Le Roy, 87600 Rochechouart</a:t>
            </a:r>
          </a:p>
        </p:txBody>
      </p:sp>
    </p:spTree>
    <p:extLst>
      <p:ext uri="{BB962C8B-B14F-4D97-AF65-F5344CB8AC3E}">
        <p14:creationId xmlns:p14="http://schemas.microsoft.com/office/powerpoint/2010/main" val="4252456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8C8121A-40AF-8D1C-D229-ACF00D20FA8D}"/>
              </a:ext>
            </a:extLst>
          </p:cNvPr>
          <p:cNvSpPr txBox="1"/>
          <p:nvPr/>
        </p:nvSpPr>
        <p:spPr>
          <a:xfrm>
            <a:off x="0" y="515007"/>
            <a:ext cx="9143999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SOMMAIRE DES LOTS (Allotissement)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A7D6969-F7FD-B1FC-DD30-89A1BED2955A}"/>
              </a:ext>
            </a:extLst>
          </p:cNvPr>
          <p:cNvSpPr txBox="1"/>
          <p:nvPr/>
        </p:nvSpPr>
        <p:spPr>
          <a:xfrm>
            <a:off x="900000" y="1650124"/>
            <a:ext cx="7400000" cy="350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fr-FR" sz="1600" dirty="0"/>
              <a:t>Lot 00 : Prescriptions générales (non fourni dans l’extrait de CCTP)</a:t>
            </a:r>
          </a:p>
          <a:p>
            <a:r>
              <a:rPr sz="1600"/>
              <a:t>Lot 01 : Gros œuvre</a:t>
            </a:r>
          </a:p>
          <a:p>
            <a:r>
              <a:rPr sz="1600"/>
              <a:t>Lot 02 : Menuiseries extérieures – Fermetures</a:t>
            </a:r>
          </a:p>
          <a:p>
            <a:r>
              <a:rPr sz="1600"/>
              <a:t>Lot 03 : Menuiseries intérieures</a:t>
            </a:r>
          </a:p>
          <a:p>
            <a:r>
              <a:rPr sz="1600"/>
              <a:t>Lot 04 : Doublage – Isolation</a:t>
            </a:r>
          </a:p>
          <a:p>
            <a:r>
              <a:rPr sz="1600"/>
              <a:t>Lot 05 : Carrelage – Faïence</a:t>
            </a:r>
          </a:p>
        </p:txBody>
      </p:sp>
    </p:spTree>
    <p:extLst>
      <p:ext uri="{BB962C8B-B14F-4D97-AF65-F5344CB8AC3E}">
        <p14:creationId xmlns:p14="http://schemas.microsoft.com/office/powerpoint/2010/main" val="1380385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8C8121A-40AF-8D1C-D229-ACF00D20FA8D}"/>
              </a:ext>
            </a:extLst>
          </p:cNvPr>
          <p:cNvSpPr txBox="1"/>
          <p:nvPr/>
        </p:nvSpPr>
        <p:spPr>
          <a:xfrm>
            <a:off x="0" y="515007"/>
            <a:ext cx="9143999" cy="52322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SYSTEMES CONSTRUCTIFS: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A7D6969-F7FD-B1FC-DD30-89A1BED2955A}"/>
              </a:ext>
            </a:extLst>
          </p:cNvPr>
          <p:cNvSpPr txBox="1"/>
          <p:nvPr/>
        </p:nvSpPr>
        <p:spPr>
          <a:xfrm>
            <a:off x="600000" y="2000000"/>
            <a:ext cx="8000000" cy="430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fr-FR" sz="1500" dirty="0"/>
              <a:t>Définition (bâtiment) : le bâtiment est l’ensemble de l’ouvrage, composé de l’infrastructure et de la superstructure.</a:t>
            </a:r>
          </a:p>
          <a:p>
            <a:r>
              <a:rPr sz="1500"/>
              <a:t>Infrastructure : partie de l’ouvrage située sous le niveau du sol (fondations, murs enterrés, dallage bas). Elle reprend les charges de la superstructure et les transmet au sol (bon sol, hors gel).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D142385-5067-86C8-B717-6477B4B12806}"/>
              </a:ext>
            </a:extLst>
          </p:cNvPr>
          <p:cNvSpPr txBox="1"/>
          <p:nvPr/>
        </p:nvSpPr>
        <p:spPr>
          <a:xfrm>
            <a:off x="394138" y="1203434"/>
            <a:ext cx="8749861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INFRASTRUCTURE - DEFINITION :</a:t>
            </a:r>
          </a:p>
        </p:txBody>
      </p:sp>
    </p:spTree>
    <p:extLst>
      <p:ext uri="{BB962C8B-B14F-4D97-AF65-F5344CB8AC3E}">
        <p14:creationId xmlns:p14="http://schemas.microsoft.com/office/powerpoint/2010/main" val="50160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8C8121A-40AF-8D1C-D229-ACF00D20FA8D}"/>
              </a:ext>
            </a:extLst>
          </p:cNvPr>
          <p:cNvSpPr txBox="1"/>
          <p:nvPr/>
        </p:nvSpPr>
        <p:spPr>
          <a:xfrm>
            <a:off x="0" y="515007"/>
            <a:ext cx="9143999" cy="52322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SYSTEMES CONSTRUCTIFS: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A7D6969-F7FD-B1FC-DD30-89A1BED2955A}"/>
              </a:ext>
            </a:extLst>
          </p:cNvPr>
          <p:cNvSpPr txBox="1"/>
          <p:nvPr/>
        </p:nvSpPr>
        <p:spPr>
          <a:xfrm>
            <a:off x="600000" y="1800000"/>
            <a:ext cx="8000000" cy="470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1400"/>
              <a:t>• Fouilles en rigole / en trou, évacuation des terres</a:t>
            </a:r>
            <a:endParaRPr lang="fr-FR" sz="2400" dirty="0"/>
          </a:p>
          <a:p>
            <a:r>
              <a:rPr sz="1400"/>
              <a:t>• Béton de propreté (250 kg) puis semelles filantes en béton armé, descendues hors gel</a:t>
            </a:r>
          </a:p>
          <a:p>
            <a:r>
              <a:rPr sz="1400"/>
              <a:t>• Arase étanche par feutre bitumineux</a:t>
            </a:r>
          </a:p>
          <a:p>
            <a:r>
              <a:rPr sz="1400"/>
              <a:t>• Murs du sous-sol en agglos 25×20×50 hourdés au mortier de ciment (+ mur de soutènement)</a:t>
            </a:r>
          </a:p>
          <a:p>
            <a:r>
              <a:rPr sz="1400"/>
              <a:t>• Chaînages horizontaux et verticaux en béton armé</a:t>
            </a:r>
          </a:p>
          <a:p>
            <a:r>
              <a:rPr sz="1400"/>
              <a:t>• Enduit ciment des parties enterrées + 2 couches de produit d’étanchéité</a:t>
            </a:r>
          </a:p>
          <a:p>
            <a:r>
              <a:rPr sz="1400"/>
              <a:t>• Drainage périphérique (cunette béton, drain PVC Ø100, empierrement, feutre BIDIM) relié aux eaux pluviales</a:t>
            </a:r>
          </a:p>
          <a:p>
            <a:r>
              <a:rPr sz="1400"/>
              <a:t>• Dallage du sous-sol : tout-venant 25 cm compacté, sable 5 cm, film polyéthylène, isolant PSE, dalle BA 12 cm talochée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D142385-5067-86C8-B717-6477B4B12806}"/>
              </a:ext>
            </a:extLst>
          </p:cNvPr>
          <p:cNvSpPr txBox="1"/>
          <p:nvPr/>
        </p:nvSpPr>
        <p:spPr>
          <a:xfrm>
            <a:off x="394138" y="1203434"/>
            <a:ext cx="8749861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INFRASTRUCTURE :</a:t>
            </a:r>
          </a:p>
        </p:txBody>
      </p:sp>
    </p:spTree>
    <p:extLst>
      <p:ext uri="{BB962C8B-B14F-4D97-AF65-F5344CB8AC3E}">
        <p14:creationId xmlns:p14="http://schemas.microsoft.com/office/powerpoint/2010/main" val="38625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8C8121A-40AF-8D1C-D229-ACF00D20FA8D}"/>
              </a:ext>
            </a:extLst>
          </p:cNvPr>
          <p:cNvSpPr txBox="1"/>
          <p:nvPr/>
        </p:nvSpPr>
        <p:spPr>
          <a:xfrm>
            <a:off x="0" y="515007"/>
            <a:ext cx="9143999" cy="52322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SYSTEMES CONSTRUCTIFS: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A7D6969-F7FD-B1FC-DD30-89A1BED2955A}"/>
              </a:ext>
            </a:extLst>
          </p:cNvPr>
          <p:cNvSpPr txBox="1"/>
          <p:nvPr/>
        </p:nvSpPr>
        <p:spPr>
          <a:xfrm>
            <a:off x="600000" y="1750000"/>
            <a:ext cx="8000000" cy="180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fr-FR" sz="1500" dirty="0"/>
              <a:t>Définition (peut-être à comparer avec Infrastructure) : la superstructure est la partie de l’ouvrage située au-dessus du sol (rez-de-chaussée, murs, planchers, toiture). L’infrastructure, elle, est enterrée.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D142385-5067-86C8-B717-6477B4B12806}"/>
              </a:ext>
            </a:extLst>
          </p:cNvPr>
          <p:cNvSpPr txBox="1"/>
          <p:nvPr/>
        </p:nvSpPr>
        <p:spPr>
          <a:xfrm>
            <a:off x="394138" y="1203434"/>
            <a:ext cx="8749861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SUPERSTRUCTURE – DEFINITIONS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A27B46A-4502-25F7-E8E5-0F9C463941AD}"/>
              </a:ext>
            </a:extLst>
          </p:cNvPr>
          <p:cNvSpPr txBox="1"/>
          <p:nvPr/>
        </p:nvSpPr>
        <p:spPr>
          <a:xfrm>
            <a:off x="600000" y="3700000"/>
            <a:ext cx="8000000" cy="220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fr-FR" sz="1500" dirty="0"/>
              <a:t>Définition (éléments porteurs) : éléments de structure qui supportent les charges (poids propre, charges d’exploitation, neige, vent) et les descendent vers les fondations : murs porteurs, poteaux, poutres, planchers, linteaux, chaînages.</a:t>
            </a:r>
          </a:p>
        </p:txBody>
      </p:sp>
    </p:spTree>
    <p:extLst>
      <p:ext uri="{BB962C8B-B14F-4D97-AF65-F5344CB8AC3E}">
        <p14:creationId xmlns:p14="http://schemas.microsoft.com/office/powerpoint/2010/main" val="126896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8C8121A-40AF-8D1C-D229-ACF00D20FA8D}"/>
              </a:ext>
            </a:extLst>
          </p:cNvPr>
          <p:cNvSpPr txBox="1"/>
          <p:nvPr/>
        </p:nvSpPr>
        <p:spPr>
          <a:xfrm>
            <a:off x="0" y="515007"/>
            <a:ext cx="9143999" cy="52322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SYSTEMES CONSTRUCTIFS: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A7D6969-F7FD-B1FC-DD30-89A1BED2955A}"/>
              </a:ext>
            </a:extLst>
          </p:cNvPr>
          <p:cNvSpPr txBox="1"/>
          <p:nvPr/>
        </p:nvSpPr>
        <p:spPr>
          <a:xfrm>
            <a:off x="600000" y="1800000"/>
            <a:ext cx="8000000" cy="470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1400"/>
              <a:t>• Murs porteurs en agglos 20×20×50 hourdés au mortier de ciment, enduit monocouche PRB gratté</a:t>
            </a:r>
            <a:endParaRPr lang="fr-FR" sz="2400" dirty="0"/>
          </a:p>
          <a:p>
            <a:r>
              <a:rPr sz="1400"/>
              <a:t>• Chaînages horizontaux et verticaux en béton armé</a:t>
            </a:r>
          </a:p>
          <a:p>
            <a:r>
              <a:rPr sz="1400"/>
              <a:t>• Linteaux en béton armé au-dessus des baies</a:t>
            </a:r>
          </a:p>
          <a:p>
            <a:r>
              <a:rPr sz="1400"/>
              <a:t>• Poteaux et poutres en béton armé de l’habitation</a:t>
            </a:r>
          </a:p>
          <a:p>
            <a:r>
              <a:rPr sz="1400"/>
              <a:t>• Plancher haut du sous-sol : poutrelles + entrevous TERREAL 16+4 cm (trémie d’escalier renforcée)</a:t>
            </a:r>
          </a:p>
          <a:p>
            <a:r>
              <a:rPr sz="1400"/>
              <a:t>• Planchers des terrasses (terrasse couverte et terrasse)</a:t>
            </a:r>
          </a:p>
          <a:p>
            <a:r>
              <a:rPr sz="1400"/>
              <a:t>• Arase des têtes de murs (horizontale et oblique) pour recevoir la toiture</a:t>
            </a:r>
          </a:p>
          <a:p>
            <a:r>
              <a:rPr sz="1400"/>
              <a:t>• Toiture-terrasse : couverture isolante bac acier, pente 5 %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D142385-5067-86C8-B717-6477B4B12806}"/>
              </a:ext>
            </a:extLst>
          </p:cNvPr>
          <p:cNvSpPr txBox="1"/>
          <p:nvPr/>
        </p:nvSpPr>
        <p:spPr>
          <a:xfrm>
            <a:off x="394138" y="1203434"/>
            <a:ext cx="8749861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SUPERSTRUCTURE (éléments porteurs) :</a:t>
            </a:r>
          </a:p>
        </p:txBody>
      </p:sp>
    </p:spTree>
    <p:extLst>
      <p:ext uri="{BB962C8B-B14F-4D97-AF65-F5344CB8AC3E}">
        <p14:creationId xmlns:p14="http://schemas.microsoft.com/office/powerpoint/2010/main" val="3141533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8C8121A-40AF-8D1C-D229-ACF00D20FA8D}"/>
              </a:ext>
            </a:extLst>
          </p:cNvPr>
          <p:cNvSpPr txBox="1"/>
          <p:nvPr/>
        </p:nvSpPr>
        <p:spPr>
          <a:xfrm>
            <a:off x="0" y="515007"/>
            <a:ext cx="9143999" cy="52322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SYSTEMES CONSTRUCTIFS: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A7D6969-F7FD-B1FC-DD30-89A1BED2955A}"/>
              </a:ext>
            </a:extLst>
          </p:cNvPr>
          <p:cNvSpPr txBox="1"/>
          <p:nvPr/>
        </p:nvSpPr>
        <p:spPr>
          <a:xfrm>
            <a:off x="600000" y="1800000"/>
            <a:ext cx="8000000" cy="4800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1300"/>
              <a:t>• Menuiseries extérieures : fenêtres, baies coulissantes, portes en aluminium laqué gris anthracite, vitrage 4/16/4, volets roulants motorisés, porte d’entrée bois exotique, porte de garage sectionnelle</a:t>
            </a:r>
            <a:endParaRPr lang="fr-FR" sz="2400" dirty="0"/>
          </a:p>
          <a:p>
            <a:r>
              <a:rPr sz="1300"/>
              <a:t>• Menuiseries intérieures : blocs-portes isoplanes, châssis à galandage SCRIGNO, placards coulissants COULIDOOR, escalier ½ tournant bois exotique</a:t>
            </a:r>
          </a:p>
          <a:p>
            <a:r>
              <a:rPr sz="1300"/>
              <a:t>• Doublage et isolation : BA13 sur rails + laine de verre GR100, cloisons D120/90 et D72/48, plafonds BA13 + isolation IBR 120 mm</a:t>
            </a:r>
          </a:p>
          <a:p>
            <a:r>
              <a:rPr sz="1300"/>
              <a:t>• Revêtements : carrelage grès émaillé sur chape (plancher chauffant), plinthes, faïence des pièces d’eau</a:t>
            </a:r>
          </a:p>
          <a:p>
            <a:r>
              <a:rPr sz="1300"/>
              <a:t>• Équipements : volets roulants, grilles de défense, entrées d’air VMC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D142385-5067-86C8-B717-6477B4B12806}"/>
              </a:ext>
            </a:extLst>
          </p:cNvPr>
          <p:cNvSpPr txBox="1"/>
          <p:nvPr/>
        </p:nvSpPr>
        <p:spPr>
          <a:xfrm>
            <a:off x="394138" y="1203434"/>
            <a:ext cx="8749861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SUPERSTRUCTURE (Second </a:t>
            </a:r>
            <a:r>
              <a:rPr lang="fr-FR" sz="2800" dirty="0" err="1">
                <a:solidFill>
                  <a:schemeClr val="bg1"/>
                </a:solidFill>
              </a:rPr>
              <a:t>Oeuvre</a:t>
            </a:r>
            <a:r>
              <a:rPr lang="fr-FR" sz="2800" dirty="0">
                <a:solidFill>
                  <a:schemeClr val="bg1"/>
                </a:solidFill>
              </a:rPr>
              <a:t>) :</a:t>
            </a:r>
          </a:p>
        </p:txBody>
      </p:sp>
    </p:spTree>
    <p:extLst>
      <p:ext uri="{BB962C8B-B14F-4D97-AF65-F5344CB8AC3E}">
        <p14:creationId xmlns:p14="http://schemas.microsoft.com/office/powerpoint/2010/main" val="2231059757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{1BF54DA5-7435-8C4A-A89E-F169833EDFF1}tf16401378</Template>
  <TotalTime>18</TotalTime>
  <Words>99</Words>
  <Application>Microsoft Macintosh PowerPoint</Application>
  <PresentationFormat>Affichage à l'écran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MS Shell Dlg 2</vt:lpstr>
      <vt:lpstr>Wingdings</vt:lpstr>
      <vt:lpstr>Wingdings 3</vt:lpstr>
      <vt:lpstr>Madison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boubou</dc:creator>
  <cp:lastModifiedBy>boubou</cp:lastModifiedBy>
  <cp:revision>2</cp:revision>
  <dcterms:created xsi:type="dcterms:W3CDTF">2024-09-17T21:18:06Z</dcterms:created>
  <dcterms:modified xsi:type="dcterms:W3CDTF">2024-09-17T21:36:37Z</dcterms:modified>
</cp:coreProperties>
</file>